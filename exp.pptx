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8288000" cy="10287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barChart>
        <c:barDir val="col"/>
        <c:grouping val="clustered"/>
        <c:varyColors val="0"/>
        <c:ser>
          <c:idx val="0"/>
          <c:order val="0"/>
          <c:tx>
            <c:v>Снижение PPL, %</c:v>
          </c:tx>
          <c:spPr>
            <a:solidFill>
              <a:srgbClr val="147D92"/>
            </a:solidFill>
          </c:spPr>
          <c:invertIfNegative val="0"/>
          <c:dLbls>
            <c:numFmt formatCode="0.00&quot;%&quot;" sourceLinked="0"/>
            <c:spPr>
              <a:noFill/>
              <a:ln>
                <a:noFill/>
              </a:ln>
              <a:effectLst/>
            </c:spPr>
            <c:txPr>
              <a:bodyPr anchorCtr="1"/>
              <a:lstStyle/>
              <a:p>
                <a:pPr>
                  <a:defRPr sz="2250" b="1">
                    <a:solidFill>
                      <a:srgbClr val="147D92"/>
                    </a:solidFil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Lit>
              <c:ptCount val="3"/>
              <c:pt idx="0">
                <c:v>10 документов</c:v>
              </c:pt>
              <c:pt idx="1">
                <c:v>30 документов</c:v>
              </c:pt>
              <c:pt idx="2">
                <c:v>50 документов</c:v>
              </c:pt>
            </c:strLit>
          </c:cat>
          <c:val>
            <c:numLit>
              <c:formatCode>0"%"</c:formatCode>
              <c:ptCount val="3"/>
              <c:pt idx="0">
                <c:v>9.7165990562999998</c:v>
              </c:pt>
              <c:pt idx="1">
                <c:v>5.6555829452999999</c:v>
              </c:pt>
              <c:pt idx="2">
                <c:v>6.8420008628</c:v>
              </c:pt>
            </c:numLit>
          </c:val>
          <c:extLst>
            <c:ext xmlns:c16="http://schemas.microsoft.com/office/drawing/2014/chart" uri="{C3380CC4-5D6E-409C-BE32-E72D297353CC}">
              <c16:uniqueId val="{00000000-FCE1-45B2-B09E-C8C8416452BB}"/>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9B6C4"/>
            </a:solidFill>
          </a:ln>
        </c:spPr>
        <c:txPr>
          <a:bodyPr anchorCtr="1"/>
          <a:lstStyle/>
          <a:p>
            <a:pPr>
              <a:defRPr sz="1950">
                <a:solidFill>
                  <a:srgbClr val="17263C"/>
                </a:solidFill>
              </a:defRPr>
            </a:pPr>
            <a:endParaRPr lang="ru-RU"/>
          </a:p>
        </c:txPr>
        <c:crossAx val="48672768"/>
        <c:crosses val="autoZero"/>
        <c:auto val="1"/>
        <c:lblAlgn val="ctr"/>
        <c:lblOffset val="100"/>
        <c:noMultiLvlLbl val="1"/>
      </c:catAx>
      <c:valAx>
        <c:axId val="48672768"/>
        <c:scaling>
          <c:orientation val="minMax"/>
          <c:max val="12"/>
          <c:min val="0"/>
        </c:scaling>
        <c:delete val="0"/>
        <c:axPos val="l"/>
        <c:majorGridlines>
          <c:spPr>
            <a:ln w="9525">
              <a:solidFill>
                <a:srgbClr val="DFE5EB"/>
              </a:solidFill>
            </a:ln>
          </c:spPr>
        </c:majorGridlines>
        <c:numFmt formatCode="0&quot;%&quot;" sourceLinked="1"/>
        <c:majorTickMark val="none"/>
        <c:minorTickMark val="none"/>
        <c:tickLblPos val="nextTo"/>
        <c:spPr>
          <a:ln w="9525">
            <a:solidFill>
              <a:srgbClr val="D4D4D4"/>
            </a:solidFill>
            <a:prstDash val="solid"/>
          </a:ln>
        </c:spPr>
        <c:txPr>
          <a:bodyPr anchorCtr="1"/>
          <a:lstStyle/>
          <a:p>
            <a:pPr>
              <a:defRPr sz="1800">
                <a:solidFill>
                  <a:srgbClr val="536477"/>
                </a:solidFill>
              </a:defRPr>
            </a:pPr>
            <a:endParaRPr lang="ru-RU"/>
          </a:p>
        </c:txPr>
        <c:crossAx val="48650112"/>
        <c:crosses val="autoZero"/>
        <c:crossBetween val="between"/>
        <c:majorUnit val="3"/>
      </c:valAx>
      <c:spPr>
        <a:solidFill>
          <a:srgbClr val="FFFFFF"/>
        </a:solidFill>
      </c:spPr>
    </c:plotArea>
    <c:plotVisOnly val="1"/>
    <c:dispBlanksAs val="zero"/>
    <c:showDLblsOverMax val="1"/>
  </c:chart>
  <c:spPr>
    <a:solidFill>
      <a:srgbClr val="FFFFFF"/>
    </a:solid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Мы исследуем тематическое моделирование при небольшом числе документов. AARTM учитывает соседние слова, но при нехватке данных ей трудно восстановить семантические связи. Мы добавляем фиксированного контекстного учителя на основе MiniLM. Он строит распределения тем для слов, которые используются для инициализации и KL-согласования AARTM. Энкодер при этом не дообучается. На графике показана одна серия экспериментов: пять корпусов, три размера обучающей коллекции и три случайных зерна. Учитель снижает перплексию восстановления скрытых слов в среднем на 7,4 процента и выигрывает в 42 из 45 пар. Наибольший средний эффект, 9,72 процента, получен при десяти документах. Эта оценка относится только к словам обучающего словаря. Основная идея: контекстные знания можно передать в AARTM через фиксированного учителя.</a:t>
            </a:r>
          </a:p>
          <a:p>
            <a:endParaRPr/>
          </a:p>
          <a:p>
            <a:r>
              <a:t>Источники: paper/aistats2027/paper_draft.tex, раздел Introduction (полный перевод на слайде); experiments/contextual_teacher/semantic_all_confirmation.csv. График: 100*(1-PPL_AARTM+Q/PPL_AARTM), сначала в каждой паре, затем среднее по 5 корпусам и 3 seed при каждом размере. Общий результат: 7.4047276215%, 42/45. Внешняя NPMI не показывает общего улучшения. Требования к O-slide: m1p_2026 (1).pdf, страницы 118–119.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A15CAF7-16F8-4B97-891C-5FC0D6720DCF}"/>
              </a:ext>
            </a:extLst>
          </p:cNvPr>
          <p:cNvSpPr>
            <a:spLocks noGrp="1"/>
          </p:cNvSpPr>
          <p:nvPr>
            <p:ph type="title"/>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AC9B9429-310D-4CA7-AE3F-384C1F4F4D6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C3B8A42-1B7A-41F8-B8C0-69E8C0C71F09}"/>
              </a:ext>
            </a:extLst>
          </p:cNvPr>
          <p:cNvSpPr>
            <a:spLocks noGrp="1"/>
          </p:cNvSpPr>
          <p:nvPr>
            <p:ph type="title"/>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F0E0718-7D39-41BB-87D8-AA3E0B704C03}"/>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95467393-54AD-41B7-8F23-4F85752606FC}"/>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5CEC83C-5808-4526-B53A-B21B3054642C}"/>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81DAF82-E65B-408C-A70F-A3450B157EF0}"/>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6CD98EE-72C9-48A6-AD49-551508426168}"/>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B700ACF-AA53-4E39-AB6D-D866D049A56A}"/>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AC9182D-A82C-468F-A098-6386792DB807}"/>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C743345A-010D-4655-9CF6-F4FEA13CD590}"/>
              </a:ext>
            </a:extLst>
          </p:cNvPr>
          <p:cNvSpPr>
            <a:spLocks noGrp="1"/>
          </p:cNvSpPr>
          <p:nvPr/>
        </p:nvSpPr>
        <p:spPr>
          <a:xfrm>
            <a:off x="609600" y="381000"/>
            <a:ext cx="17068800" cy="809625"/>
          </a:xfrm>
          <a:prstGeom prst="rect">
            <a:avLst/>
          </a:prstGeom>
          <a:noFill/>
          <a:ln w="0">
            <a:noFill/>
          </a:ln>
        </p:spPr>
        <p:txBody>
          <a:bodyPr/>
          <a:lstStyle>
            <a:defPPr>
              <a:defRPr sz="3975" b="1">
                <a:solidFill>
                  <a:srgbClr val="17263C"/>
                </a:solidFill>
              </a:defRPr>
            </a:defPPr>
            <a:lvl1pPr>
              <a:defRPr sz="3975" b="1">
                <a:solidFill>
                  <a:srgbClr val="17263C"/>
                </a:solidFill>
              </a:defRPr>
            </a:lvl1pPr>
            <a:lvl2pPr>
              <a:defRPr sz="3975" b="1">
                <a:solidFill>
                  <a:srgbClr val="17263C"/>
                </a:solidFill>
              </a:defRPr>
            </a:lvl2pPr>
            <a:lvl3pPr>
              <a:defRPr sz="3975" b="1">
                <a:solidFill>
                  <a:srgbClr val="17263C"/>
                </a:solidFill>
              </a:defRPr>
            </a:lvl3pPr>
            <a:lvl4pPr>
              <a:defRPr sz="3975" b="1">
                <a:solidFill>
                  <a:srgbClr val="17263C"/>
                </a:solidFill>
              </a:defRPr>
            </a:lvl4pPr>
            <a:lvl5pPr>
              <a:defRPr sz="3975" b="1">
                <a:solidFill>
                  <a:srgbClr val="17263C"/>
                </a:solidFill>
              </a:defRPr>
            </a:lvl5pPr>
            <a:lvl6pPr>
              <a:defRPr sz="3975" b="1">
                <a:solidFill>
                  <a:srgbClr val="17263C"/>
                </a:solidFill>
              </a:defRPr>
            </a:lvl6pPr>
            <a:lvl7pPr>
              <a:defRPr sz="3975" b="1">
                <a:solidFill>
                  <a:srgbClr val="17263C"/>
                </a:solidFill>
              </a:defRPr>
            </a:lvl7pPr>
            <a:lvl8pPr>
              <a:defRPr sz="3975" b="1">
                <a:solidFill>
                  <a:srgbClr val="17263C"/>
                </a:solidFill>
              </a:defRPr>
            </a:lvl8pPr>
            <a:lvl9pPr>
              <a:defRPr sz="3975" b="1">
                <a:solidFill>
                  <a:srgbClr val="17263C"/>
                </a:solidFill>
              </a:defRPr>
            </a:lvl9pPr>
          </a:lstStyle>
          <a:p>
            <a:pPr>
              <a:defRPr sz="3975" b="1">
                <a:solidFill>
                  <a:srgbClr val="17263C"/>
                </a:solidFill>
              </a:defRPr>
            </a:pPr>
            <a:r>
              <a:rPr sz="3975" b="1">
                <a:solidFill>
                  <a:srgbClr val="17263C"/>
                </a:solidFill>
              </a:rPr>
              <a:t>Фиксированный контекстный учитель для AARTM</a:t>
            </a:r>
          </a:p>
        </p:txBody>
      </p:sp>
      <p:sp>
        <p:nvSpPr>
          <p:cNvPr id="3" name="intro-heading">
            <a:extLst>
              <a:ext uri="{FF2B5EF4-FFF2-40B4-BE49-F238E27FC236}">
                <a16:creationId xmlns:a16="http://schemas.microsoft.com/office/drawing/2014/main" id="{D613B14A-C1A3-488C-B532-6E410B53C3E1}"/>
              </a:ext>
            </a:extLst>
          </p:cNvPr>
          <p:cNvSpPr>
            <a:spLocks noGrp="1"/>
          </p:cNvSpPr>
          <p:nvPr/>
        </p:nvSpPr>
        <p:spPr>
          <a:xfrm>
            <a:off x="628650" y="2066925"/>
            <a:ext cx="6572250" cy="428625"/>
          </a:xfrm>
          <a:prstGeom prst="rect">
            <a:avLst/>
          </a:prstGeom>
          <a:noFill/>
          <a:ln w="0">
            <a:noFill/>
          </a:ln>
        </p:spPr>
        <p:txBody>
          <a:bodyPr/>
          <a:lstStyle>
            <a:defPPr>
              <a:defRPr sz="2325" b="1">
                <a:solidFill>
                  <a:srgbClr val="17263C"/>
                </a:solidFill>
              </a:defRPr>
            </a:defPPr>
            <a:lvl1pPr>
              <a:defRPr sz="2325" b="1">
                <a:solidFill>
                  <a:srgbClr val="17263C"/>
                </a:solidFill>
              </a:defRPr>
            </a:lvl1pPr>
            <a:lvl2pPr>
              <a:defRPr sz="2325" b="1">
                <a:solidFill>
                  <a:srgbClr val="17263C"/>
                </a:solidFill>
              </a:defRPr>
            </a:lvl2pPr>
            <a:lvl3pPr>
              <a:defRPr sz="2325" b="1">
                <a:solidFill>
                  <a:srgbClr val="17263C"/>
                </a:solidFill>
              </a:defRPr>
            </a:lvl3pPr>
            <a:lvl4pPr>
              <a:defRPr sz="2325" b="1">
                <a:solidFill>
                  <a:srgbClr val="17263C"/>
                </a:solidFill>
              </a:defRPr>
            </a:lvl4pPr>
            <a:lvl5pPr>
              <a:defRPr sz="2325" b="1">
                <a:solidFill>
                  <a:srgbClr val="17263C"/>
                </a:solidFill>
              </a:defRPr>
            </a:lvl5pPr>
            <a:lvl6pPr>
              <a:defRPr sz="2325" b="1">
                <a:solidFill>
                  <a:srgbClr val="17263C"/>
                </a:solidFill>
              </a:defRPr>
            </a:lvl6pPr>
            <a:lvl7pPr>
              <a:defRPr sz="2325" b="1">
                <a:solidFill>
                  <a:srgbClr val="17263C"/>
                </a:solidFill>
              </a:defRPr>
            </a:lvl7pPr>
            <a:lvl8pPr>
              <a:defRPr sz="2325" b="1">
                <a:solidFill>
                  <a:srgbClr val="17263C"/>
                </a:solidFill>
              </a:defRPr>
            </a:lvl8pPr>
            <a:lvl9pPr>
              <a:defRPr sz="2325" b="1">
                <a:solidFill>
                  <a:srgbClr val="17263C"/>
                </a:solidFill>
              </a:defRPr>
            </a:lvl9pPr>
          </a:lstStyle>
          <a:p>
            <a:pPr>
              <a:defRPr sz="2325" b="1">
                <a:solidFill>
                  <a:srgbClr val="17263C"/>
                </a:solidFill>
              </a:defRPr>
            </a:pPr>
            <a:r>
              <a:rPr sz="2325" b="1">
                <a:solidFill>
                  <a:srgbClr val="17263C"/>
                </a:solidFill>
              </a:rPr>
              <a:t>Введение</a:t>
            </a:r>
          </a:p>
        </p:txBody>
      </p:sp>
      <p:sp>
        <p:nvSpPr>
          <p:cNvPr id="4" name="intro-1">
            <a:extLst>
              <a:ext uri="{FF2B5EF4-FFF2-40B4-BE49-F238E27FC236}">
                <a16:creationId xmlns:a16="http://schemas.microsoft.com/office/drawing/2014/main" id="{28BF3DC3-E169-431A-82AD-D64F409AAFB2}"/>
              </a:ext>
            </a:extLst>
          </p:cNvPr>
          <p:cNvSpPr>
            <a:spLocks noGrp="1"/>
          </p:cNvSpPr>
          <p:nvPr/>
        </p:nvSpPr>
        <p:spPr>
          <a:xfrm>
            <a:off x="628650" y="2647950"/>
            <a:ext cx="6553200" cy="2857500"/>
          </a:xfrm>
          <a:prstGeom prst="rect">
            <a:avLst/>
          </a:prstGeom>
          <a:noFill/>
          <a:ln w="0">
            <a:noFill/>
          </a:ln>
        </p:spPr>
        <p:txBody>
          <a:bodyPr/>
          <a:lstStyle>
            <a:defPPr>
              <a:defRPr sz="1950" b="0">
                <a:solidFill>
                  <a:srgbClr val="17263C"/>
                </a:solidFill>
              </a:defRPr>
            </a:defPPr>
            <a:lvl1pPr>
              <a:defRPr sz="1950" b="0">
                <a:solidFill>
                  <a:srgbClr val="17263C"/>
                </a:solidFill>
              </a:defRPr>
            </a:lvl1pPr>
            <a:lvl2pPr>
              <a:defRPr sz="1950" b="0">
                <a:solidFill>
                  <a:srgbClr val="17263C"/>
                </a:solidFill>
              </a:defRPr>
            </a:lvl2pPr>
            <a:lvl3pPr>
              <a:defRPr sz="1950" b="0">
                <a:solidFill>
                  <a:srgbClr val="17263C"/>
                </a:solidFill>
              </a:defRPr>
            </a:lvl3pPr>
            <a:lvl4pPr>
              <a:defRPr sz="1950" b="0">
                <a:solidFill>
                  <a:srgbClr val="17263C"/>
                </a:solidFill>
              </a:defRPr>
            </a:lvl4pPr>
            <a:lvl5pPr>
              <a:defRPr sz="1950" b="0">
                <a:solidFill>
                  <a:srgbClr val="17263C"/>
                </a:solidFill>
              </a:defRPr>
            </a:lvl5pPr>
            <a:lvl6pPr>
              <a:defRPr sz="1950" b="0">
                <a:solidFill>
                  <a:srgbClr val="17263C"/>
                </a:solidFill>
              </a:defRPr>
            </a:lvl6pPr>
            <a:lvl7pPr>
              <a:defRPr sz="1950" b="0">
                <a:solidFill>
                  <a:srgbClr val="17263C"/>
                </a:solidFill>
              </a:defRPr>
            </a:lvl7pPr>
            <a:lvl8pPr>
              <a:defRPr sz="1950" b="0">
                <a:solidFill>
                  <a:srgbClr val="17263C"/>
                </a:solidFill>
              </a:defRPr>
            </a:lvl8pPr>
            <a:lvl9pPr>
              <a:defRPr sz="1950" b="0">
                <a:solidFill>
                  <a:srgbClr val="17263C"/>
                </a:solidFill>
              </a:defRPr>
            </a:lvl9pPr>
          </a:lstStyle>
          <a:p>
            <a:pPr>
              <a:defRPr sz="1950" b="0">
                <a:solidFill>
                  <a:srgbClr val="17263C"/>
                </a:solidFill>
              </a:defRPr>
            </a:pPr>
            <a:r>
              <a:rPr sz="1950" b="0">
                <a:solidFill>
                  <a:srgbClr val="17263C"/>
                </a:solidFill>
              </a:rPr>
              <a:t>Тематические модели представляют коллекцию через распределения по словам и документам. AARTM дополняет аддитивную регуляризацию локальным контекстом: соседние слова влияют на назначение тем. Однако на малых коллекциях модели не хватает данных для выявления семантических связей. Контекстный учитель на основе предобученной языковой модели может предоставить такую информацию для малых коллекций и повысить качество модели на больших корпусах.</a:t>
            </a:r>
          </a:p>
        </p:txBody>
      </p:sp>
      <p:sp>
        <p:nvSpPr>
          <p:cNvPr id="5" name="intro-2">
            <a:extLst>
              <a:ext uri="{FF2B5EF4-FFF2-40B4-BE49-F238E27FC236}">
                <a16:creationId xmlns:a16="http://schemas.microsoft.com/office/drawing/2014/main" id="{B0BFDAF4-BABE-4020-8EFE-698C64AAF78E}"/>
              </a:ext>
            </a:extLst>
          </p:cNvPr>
          <p:cNvSpPr>
            <a:spLocks noGrp="1"/>
          </p:cNvSpPr>
          <p:nvPr/>
        </p:nvSpPr>
        <p:spPr>
          <a:xfrm>
            <a:off x="628650" y="5600700"/>
            <a:ext cx="6553200" cy="2333625"/>
          </a:xfrm>
          <a:prstGeom prst="rect">
            <a:avLst/>
          </a:prstGeom>
          <a:noFill/>
          <a:ln w="0">
            <a:noFill/>
          </a:ln>
        </p:spPr>
        <p:txBody>
          <a:bodyPr/>
          <a:lstStyle>
            <a:defPPr>
              <a:defRPr sz="1950" b="0">
                <a:solidFill>
                  <a:srgbClr val="17263C"/>
                </a:solidFill>
              </a:defRPr>
            </a:defPPr>
            <a:lvl1pPr>
              <a:defRPr sz="1950" b="0">
                <a:solidFill>
                  <a:srgbClr val="17263C"/>
                </a:solidFill>
              </a:defRPr>
            </a:lvl1pPr>
            <a:lvl2pPr>
              <a:defRPr sz="1950" b="0">
                <a:solidFill>
                  <a:srgbClr val="17263C"/>
                </a:solidFill>
              </a:defRPr>
            </a:lvl2pPr>
            <a:lvl3pPr>
              <a:defRPr sz="1950" b="0">
                <a:solidFill>
                  <a:srgbClr val="17263C"/>
                </a:solidFill>
              </a:defRPr>
            </a:lvl3pPr>
            <a:lvl4pPr>
              <a:defRPr sz="1950" b="0">
                <a:solidFill>
                  <a:srgbClr val="17263C"/>
                </a:solidFill>
              </a:defRPr>
            </a:lvl4pPr>
            <a:lvl5pPr>
              <a:defRPr sz="1950" b="0">
                <a:solidFill>
                  <a:srgbClr val="17263C"/>
                </a:solidFill>
              </a:defRPr>
            </a:lvl5pPr>
            <a:lvl6pPr>
              <a:defRPr sz="1950" b="0">
                <a:solidFill>
                  <a:srgbClr val="17263C"/>
                </a:solidFill>
              </a:defRPr>
            </a:lvl6pPr>
            <a:lvl7pPr>
              <a:defRPr sz="1950" b="0">
                <a:solidFill>
                  <a:srgbClr val="17263C"/>
                </a:solidFill>
              </a:defRPr>
            </a:lvl7pPr>
            <a:lvl8pPr>
              <a:defRPr sz="1950" b="0">
                <a:solidFill>
                  <a:srgbClr val="17263C"/>
                </a:solidFill>
              </a:defRPr>
            </a:lvl8pPr>
            <a:lvl9pPr>
              <a:defRPr sz="1950" b="0">
                <a:solidFill>
                  <a:srgbClr val="17263C"/>
                </a:solidFill>
              </a:defRPr>
            </a:lvl9pPr>
          </a:lstStyle>
          <a:p>
            <a:pPr>
              <a:defRPr sz="1950" b="0">
                <a:solidFill>
                  <a:srgbClr val="17263C"/>
                </a:solidFill>
              </a:defRPr>
            </a:pPr>
            <a:r>
              <a:rPr sz="1950" b="0">
                <a:solidFill>
                  <a:srgbClr val="17263C"/>
                </a:solidFill>
              </a:rPr>
              <a:t>Мы исследуем, может ли эта информация улучшить существующую тематическую модель с вниманием без дообучения внешнего энкодера. KL-регуляризатор согласует распределения тем учителя и тематической модели. Ниже описано построение распределений учителя. Хотя идея может распространяться на другие тематические модели, наши эксперименты посвящены AARTM.</a:t>
            </a:r>
          </a:p>
        </p:txBody>
      </p:sp>
      <p:sp>
        <p:nvSpPr>
          <p:cNvPr id="6" name="intro-3">
            <a:extLst>
              <a:ext uri="{FF2B5EF4-FFF2-40B4-BE49-F238E27FC236}">
                <a16:creationId xmlns:a16="http://schemas.microsoft.com/office/drawing/2014/main" id="{02611AF4-7250-41CE-BAF3-6D486A9F1E3C}"/>
              </a:ext>
            </a:extLst>
          </p:cNvPr>
          <p:cNvSpPr>
            <a:spLocks noGrp="1"/>
          </p:cNvSpPr>
          <p:nvPr/>
        </p:nvSpPr>
        <p:spPr>
          <a:xfrm>
            <a:off x="628650" y="8010525"/>
            <a:ext cx="6553200" cy="1933575"/>
          </a:xfrm>
          <a:prstGeom prst="rect">
            <a:avLst/>
          </a:prstGeom>
          <a:noFill/>
          <a:ln w="0">
            <a:noFill/>
          </a:ln>
        </p:spPr>
        <p:txBody>
          <a:bodyPr/>
          <a:lstStyle>
            <a:defPPr>
              <a:defRPr sz="1875" b="0">
                <a:solidFill>
                  <a:srgbClr val="17263C"/>
                </a:solidFill>
              </a:defRPr>
            </a:defPPr>
            <a:lvl1pPr>
              <a:defRPr sz="1875" b="0">
                <a:solidFill>
                  <a:srgbClr val="17263C"/>
                </a:solidFill>
              </a:defRPr>
            </a:lvl1pPr>
            <a:lvl2pPr>
              <a:defRPr sz="1875" b="0">
                <a:solidFill>
                  <a:srgbClr val="17263C"/>
                </a:solidFill>
              </a:defRPr>
            </a:lvl2pPr>
            <a:lvl3pPr>
              <a:defRPr sz="1875" b="0">
                <a:solidFill>
                  <a:srgbClr val="17263C"/>
                </a:solidFill>
              </a:defRPr>
            </a:lvl3pPr>
            <a:lvl4pPr>
              <a:defRPr sz="1875" b="0">
                <a:solidFill>
                  <a:srgbClr val="17263C"/>
                </a:solidFill>
              </a:defRPr>
            </a:lvl4pPr>
            <a:lvl5pPr>
              <a:defRPr sz="1875" b="0">
                <a:solidFill>
                  <a:srgbClr val="17263C"/>
                </a:solidFill>
              </a:defRPr>
            </a:lvl5pPr>
            <a:lvl6pPr>
              <a:defRPr sz="1875" b="0">
                <a:solidFill>
                  <a:srgbClr val="17263C"/>
                </a:solidFill>
              </a:defRPr>
            </a:lvl6pPr>
            <a:lvl7pPr>
              <a:defRPr sz="1875" b="0">
                <a:solidFill>
                  <a:srgbClr val="17263C"/>
                </a:solidFill>
              </a:defRPr>
            </a:lvl7pPr>
            <a:lvl8pPr>
              <a:defRPr sz="1875" b="0">
                <a:solidFill>
                  <a:srgbClr val="17263C"/>
                </a:solidFill>
              </a:defRPr>
            </a:lvl8pPr>
            <a:lvl9pPr>
              <a:defRPr sz="1875" b="0">
                <a:solidFill>
                  <a:srgbClr val="17263C"/>
                </a:solidFill>
              </a:defRPr>
            </a:lvl9pPr>
          </a:lstStyle>
          <a:p>
            <a:pPr>
              <a:defRPr sz="1875" b="0">
                <a:solidFill>
                  <a:srgbClr val="17263C"/>
                </a:solidFill>
              </a:defRPr>
            </a:pPr>
            <a:r>
              <a:rPr sz="1875" b="0" dirty="0" err="1">
                <a:solidFill>
                  <a:srgbClr val="17263C"/>
                </a:solidFill>
              </a:rPr>
              <a:t>Наш</a:t>
            </a:r>
            <a:r>
              <a:rPr sz="1875" b="0" dirty="0">
                <a:solidFill>
                  <a:srgbClr val="17263C"/>
                </a:solidFill>
              </a:rPr>
              <a:t> </a:t>
            </a:r>
            <a:r>
              <a:rPr sz="1875" b="0" dirty="0" err="1">
                <a:solidFill>
                  <a:srgbClr val="17263C"/>
                </a:solidFill>
              </a:rPr>
              <a:t>вклад</a:t>
            </a:r>
            <a:r>
              <a:rPr sz="1875" b="0" dirty="0">
                <a:solidFill>
                  <a:srgbClr val="17263C"/>
                </a:solidFill>
              </a:rPr>
              <a:t>: (</a:t>
            </a:r>
            <a:r>
              <a:rPr sz="1875" b="0" dirty="0" err="1">
                <a:solidFill>
                  <a:srgbClr val="17263C"/>
                </a:solidFill>
              </a:rPr>
              <a:t>i</a:t>
            </a:r>
            <a:r>
              <a:rPr sz="1875" b="0" dirty="0">
                <a:solidFill>
                  <a:srgbClr val="17263C"/>
                </a:solidFill>
              </a:rPr>
              <a:t>) </a:t>
            </a:r>
            <a:r>
              <a:rPr sz="1875" b="0" dirty="0" err="1">
                <a:solidFill>
                  <a:srgbClr val="17263C"/>
                </a:solidFill>
              </a:rPr>
              <a:t>простой</a:t>
            </a:r>
            <a:r>
              <a:rPr sz="1875" b="0" dirty="0">
                <a:solidFill>
                  <a:srgbClr val="17263C"/>
                </a:solidFill>
              </a:rPr>
              <a:t> </a:t>
            </a:r>
            <a:r>
              <a:rPr sz="1875" b="0" dirty="0" err="1">
                <a:solidFill>
                  <a:srgbClr val="17263C"/>
                </a:solidFill>
              </a:rPr>
              <a:t>способ</a:t>
            </a:r>
            <a:r>
              <a:rPr sz="1875" b="0" dirty="0">
                <a:solidFill>
                  <a:srgbClr val="17263C"/>
                </a:solidFill>
              </a:rPr>
              <a:t> </a:t>
            </a:r>
            <a:r>
              <a:rPr sz="1875" b="0" dirty="0" err="1">
                <a:solidFill>
                  <a:srgbClr val="17263C"/>
                </a:solidFill>
              </a:rPr>
              <a:t>построения</a:t>
            </a:r>
            <a:r>
              <a:rPr sz="1875" b="0" dirty="0">
                <a:solidFill>
                  <a:srgbClr val="17263C"/>
                </a:solidFill>
              </a:rPr>
              <a:t> </a:t>
            </a:r>
            <a:r>
              <a:rPr sz="1875" b="0" dirty="0" err="1">
                <a:solidFill>
                  <a:srgbClr val="17263C"/>
                </a:solidFill>
              </a:rPr>
              <a:t>целевых</a:t>
            </a:r>
            <a:r>
              <a:rPr sz="1875" b="0" dirty="0">
                <a:solidFill>
                  <a:srgbClr val="17263C"/>
                </a:solidFill>
              </a:rPr>
              <a:t> </a:t>
            </a:r>
            <a:r>
              <a:rPr sz="1875" b="0" dirty="0" err="1">
                <a:solidFill>
                  <a:srgbClr val="17263C"/>
                </a:solidFill>
              </a:rPr>
              <a:t>распределений</a:t>
            </a:r>
            <a:r>
              <a:rPr sz="1875" b="0" dirty="0">
                <a:solidFill>
                  <a:srgbClr val="17263C"/>
                </a:solidFill>
              </a:rPr>
              <a:t> </a:t>
            </a:r>
            <a:r>
              <a:rPr sz="1875" b="0" dirty="0" err="1">
                <a:solidFill>
                  <a:srgbClr val="17263C"/>
                </a:solidFill>
              </a:rPr>
              <a:t>для</a:t>
            </a:r>
            <a:r>
              <a:rPr sz="1875" b="0" dirty="0">
                <a:solidFill>
                  <a:srgbClr val="17263C"/>
                </a:solidFill>
              </a:rPr>
              <a:t> </a:t>
            </a:r>
            <a:r>
              <a:rPr sz="1875" b="0" dirty="0" err="1">
                <a:solidFill>
                  <a:srgbClr val="17263C"/>
                </a:solidFill>
              </a:rPr>
              <a:t>слов</a:t>
            </a:r>
            <a:r>
              <a:rPr sz="1875" b="0" dirty="0">
                <a:solidFill>
                  <a:srgbClr val="17263C"/>
                </a:solidFill>
              </a:rPr>
              <a:t> </a:t>
            </a:r>
            <a:r>
              <a:rPr sz="1875" b="0" dirty="0" err="1">
                <a:solidFill>
                  <a:srgbClr val="17263C"/>
                </a:solidFill>
              </a:rPr>
              <a:t>словаря</a:t>
            </a:r>
            <a:r>
              <a:rPr sz="1875" b="0" dirty="0">
                <a:solidFill>
                  <a:srgbClr val="17263C"/>
                </a:solidFill>
              </a:rPr>
              <a:t> </a:t>
            </a:r>
            <a:r>
              <a:rPr sz="1875" b="0" dirty="0" err="1">
                <a:solidFill>
                  <a:srgbClr val="17263C"/>
                </a:solidFill>
              </a:rPr>
              <a:t>из</a:t>
            </a:r>
            <a:r>
              <a:rPr sz="1875" b="0" dirty="0">
                <a:solidFill>
                  <a:srgbClr val="17263C"/>
                </a:solidFill>
              </a:rPr>
              <a:t> </a:t>
            </a:r>
            <a:r>
              <a:rPr sz="1875" b="0" dirty="0" err="1">
                <a:solidFill>
                  <a:srgbClr val="17263C"/>
                </a:solidFill>
              </a:rPr>
              <a:t>контекстных</a:t>
            </a:r>
            <a:r>
              <a:rPr sz="1875" b="0" dirty="0">
                <a:solidFill>
                  <a:srgbClr val="17263C"/>
                </a:solidFill>
              </a:rPr>
              <a:t> </a:t>
            </a:r>
            <a:r>
              <a:rPr sz="1875" b="0" dirty="0" err="1">
                <a:solidFill>
                  <a:srgbClr val="17263C"/>
                </a:solidFill>
              </a:rPr>
              <a:t>эмбеддингов</a:t>
            </a:r>
            <a:r>
              <a:rPr sz="1875" b="0" dirty="0">
                <a:solidFill>
                  <a:srgbClr val="17263C"/>
                </a:solidFill>
              </a:rPr>
              <a:t> </a:t>
            </a:r>
            <a:r>
              <a:rPr sz="1875" b="0" dirty="0" err="1">
                <a:solidFill>
                  <a:srgbClr val="17263C"/>
                </a:solidFill>
              </a:rPr>
              <a:t>фрагментов</a:t>
            </a:r>
            <a:r>
              <a:rPr sz="1875" b="0" dirty="0">
                <a:solidFill>
                  <a:srgbClr val="17263C"/>
                </a:solidFill>
              </a:rPr>
              <a:t>, (ii) </a:t>
            </a:r>
            <a:r>
              <a:rPr sz="1875" b="0" dirty="0" err="1">
                <a:solidFill>
                  <a:srgbClr val="17263C"/>
                </a:solidFill>
              </a:rPr>
              <a:t>обучение</a:t>
            </a:r>
            <a:r>
              <a:rPr sz="1875" b="0" dirty="0">
                <a:solidFill>
                  <a:srgbClr val="17263C"/>
                </a:solidFill>
              </a:rPr>
              <a:t> </a:t>
            </a:r>
            <a:r>
              <a:rPr sz="1875" b="0" dirty="0" err="1">
                <a:solidFill>
                  <a:srgbClr val="17263C"/>
                </a:solidFill>
              </a:rPr>
              <a:t>существующей</a:t>
            </a:r>
            <a:r>
              <a:rPr sz="1875" b="0" dirty="0">
                <a:solidFill>
                  <a:srgbClr val="17263C"/>
                </a:solidFill>
              </a:rPr>
              <a:t> </a:t>
            </a:r>
            <a:r>
              <a:rPr sz="1875" b="0" dirty="0" err="1">
                <a:solidFill>
                  <a:srgbClr val="17263C"/>
                </a:solidFill>
              </a:rPr>
              <a:t>тематической</a:t>
            </a:r>
            <a:r>
              <a:rPr sz="1875" b="0" dirty="0">
                <a:solidFill>
                  <a:srgbClr val="17263C"/>
                </a:solidFill>
              </a:rPr>
              <a:t> </a:t>
            </a:r>
            <a:r>
              <a:rPr sz="1875" b="0" dirty="0" err="1">
                <a:solidFill>
                  <a:srgbClr val="17263C"/>
                </a:solidFill>
              </a:rPr>
              <a:t>модели</a:t>
            </a:r>
            <a:r>
              <a:rPr sz="1875" b="0" dirty="0">
                <a:solidFill>
                  <a:srgbClr val="17263C"/>
                </a:solidFill>
              </a:rPr>
              <a:t> с KL-</a:t>
            </a:r>
            <a:r>
              <a:rPr sz="1875" b="0" dirty="0" err="1">
                <a:solidFill>
                  <a:srgbClr val="17263C"/>
                </a:solidFill>
              </a:rPr>
              <a:t>регуляризацией</a:t>
            </a:r>
            <a:r>
              <a:rPr sz="1875" b="0" dirty="0">
                <a:solidFill>
                  <a:srgbClr val="17263C"/>
                </a:solidFill>
              </a:rPr>
              <a:t> </a:t>
            </a:r>
            <a:r>
              <a:rPr sz="1875" b="0" dirty="0" err="1">
                <a:solidFill>
                  <a:srgbClr val="17263C"/>
                </a:solidFill>
              </a:rPr>
              <a:t>по</a:t>
            </a:r>
            <a:r>
              <a:rPr sz="1875" b="0" dirty="0">
                <a:solidFill>
                  <a:srgbClr val="17263C"/>
                </a:solidFill>
              </a:rPr>
              <a:t> </a:t>
            </a:r>
            <a:r>
              <a:rPr sz="1875" b="0" dirty="0" err="1">
                <a:solidFill>
                  <a:srgbClr val="17263C"/>
                </a:solidFill>
              </a:rPr>
              <a:t>этим</a:t>
            </a:r>
            <a:r>
              <a:rPr sz="1875" b="0" dirty="0">
                <a:solidFill>
                  <a:srgbClr val="17263C"/>
                </a:solidFill>
              </a:rPr>
              <a:t> </a:t>
            </a:r>
            <a:r>
              <a:rPr sz="1875" b="0" dirty="0" err="1">
                <a:solidFill>
                  <a:srgbClr val="17263C"/>
                </a:solidFill>
              </a:rPr>
              <a:t>целям</a:t>
            </a:r>
            <a:r>
              <a:rPr sz="1875" b="0" dirty="0">
                <a:solidFill>
                  <a:srgbClr val="17263C"/>
                </a:solidFill>
              </a:rPr>
              <a:t>, (iii) </a:t>
            </a:r>
            <a:r>
              <a:rPr sz="1875" b="0" dirty="0" err="1">
                <a:solidFill>
                  <a:srgbClr val="17263C"/>
                </a:solidFill>
              </a:rPr>
              <a:t>наивысшая</a:t>
            </a:r>
            <a:r>
              <a:rPr sz="1875" b="0" dirty="0">
                <a:solidFill>
                  <a:srgbClr val="17263C"/>
                </a:solidFill>
              </a:rPr>
              <a:t> PMI </a:t>
            </a:r>
            <a:r>
              <a:rPr sz="1875" b="0" dirty="0" err="1">
                <a:solidFill>
                  <a:srgbClr val="17263C"/>
                </a:solidFill>
              </a:rPr>
              <a:t>на</a:t>
            </a:r>
            <a:r>
              <a:rPr sz="1875" b="0" dirty="0">
                <a:solidFill>
                  <a:srgbClr val="17263C"/>
                </a:solidFill>
              </a:rPr>
              <a:t> </a:t>
            </a:r>
            <a:r>
              <a:rPr sz="1875" b="0" dirty="0" err="1">
                <a:solidFill>
                  <a:srgbClr val="17263C"/>
                </a:solidFill>
              </a:rPr>
              <a:t>обучающей</a:t>
            </a:r>
            <a:r>
              <a:rPr sz="1875" b="0" dirty="0">
                <a:solidFill>
                  <a:srgbClr val="17263C"/>
                </a:solidFill>
              </a:rPr>
              <a:t> </a:t>
            </a:r>
            <a:r>
              <a:rPr sz="1875" b="0" dirty="0" err="1">
                <a:solidFill>
                  <a:srgbClr val="17263C"/>
                </a:solidFill>
              </a:rPr>
              <a:t>выборке</a:t>
            </a:r>
            <a:r>
              <a:rPr sz="1875" b="0" dirty="0">
                <a:solidFill>
                  <a:srgbClr val="17263C"/>
                </a:solidFill>
              </a:rPr>
              <a:t> </a:t>
            </a:r>
            <a:r>
              <a:rPr sz="1875" b="0" dirty="0" err="1">
                <a:solidFill>
                  <a:srgbClr val="17263C"/>
                </a:solidFill>
              </a:rPr>
              <a:t>среди</a:t>
            </a:r>
            <a:r>
              <a:rPr sz="1875" b="0" dirty="0">
                <a:solidFill>
                  <a:srgbClr val="17263C"/>
                </a:solidFill>
              </a:rPr>
              <a:t> </a:t>
            </a:r>
            <a:r>
              <a:rPr sz="1875" b="0" dirty="0" err="1">
                <a:solidFill>
                  <a:srgbClr val="17263C"/>
                </a:solidFill>
              </a:rPr>
              <a:t>сравниваемых</a:t>
            </a:r>
            <a:r>
              <a:rPr sz="1875" b="0" dirty="0">
                <a:solidFill>
                  <a:srgbClr val="17263C"/>
                </a:solidFill>
              </a:rPr>
              <a:t> </a:t>
            </a:r>
            <a:r>
              <a:rPr sz="1875" b="0" dirty="0" err="1">
                <a:solidFill>
                  <a:srgbClr val="17263C"/>
                </a:solidFill>
              </a:rPr>
              <a:t>моделей</a:t>
            </a:r>
            <a:r>
              <a:rPr sz="1875" b="0" dirty="0">
                <a:solidFill>
                  <a:srgbClr val="17263C"/>
                </a:solidFill>
              </a:rPr>
              <a:t> </a:t>
            </a:r>
            <a:r>
              <a:rPr sz="1875" b="0" dirty="0" err="1">
                <a:solidFill>
                  <a:srgbClr val="17263C"/>
                </a:solidFill>
              </a:rPr>
              <a:t>arXiv</a:t>
            </a:r>
            <a:r>
              <a:rPr sz="1875" b="0" dirty="0">
                <a:solidFill>
                  <a:srgbClr val="17263C"/>
                </a:solidFill>
              </a:rPr>
              <a:t> </a:t>
            </a:r>
            <a:r>
              <a:rPr sz="1875" b="0" dirty="0" err="1">
                <a:solidFill>
                  <a:srgbClr val="17263C"/>
                </a:solidFill>
              </a:rPr>
              <a:t>при</a:t>
            </a:r>
            <a:r>
              <a:rPr sz="1875" b="0" dirty="0">
                <a:solidFill>
                  <a:srgbClr val="17263C"/>
                </a:solidFill>
              </a:rPr>
              <a:t> </a:t>
            </a:r>
            <a:r>
              <a:rPr sz="1875" b="0" dirty="0" err="1">
                <a:solidFill>
                  <a:srgbClr val="17263C"/>
                </a:solidFill>
              </a:rPr>
              <a:t>всех</a:t>
            </a:r>
            <a:r>
              <a:rPr sz="1875" b="0" dirty="0">
                <a:solidFill>
                  <a:srgbClr val="17263C"/>
                </a:solidFill>
              </a:rPr>
              <a:t> </a:t>
            </a:r>
            <a:r>
              <a:rPr sz="1875" b="0" dirty="0" err="1">
                <a:solidFill>
                  <a:srgbClr val="17263C"/>
                </a:solidFill>
              </a:rPr>
              <a:t>пяти</a:t>
            </a:r>
            <a:r>
              <a:rPr sz="1875" b="0" dirty="0">
                <a:solidFill>
                  <a:srgbClr val="17263C"/>
                </a:solidFill>
              </a:rPr>
              <a:t> </a:t>
            </a:r>
            <a:r>
              <a:rPr sz="1875" b="0" dirty="0" err="1">
                <a:solidFill>
                  <a:srgbClr val="17263C"/>
                </a:solidFill>
              </a:rPr>
              <a:t>значениях</a:t>
            </a:r>
            <a:r>
              <a:rPr sz="1875" b="0" dirty="0">
                <a:solidFill>
                  <a:srgbClr val="17263C"/>
                </a:solidFill>
              </a:rPr>
              <a:t> </a:t>
            </a:r>
            <a:r>
              <a:rPr sz="1875" b="0" dirty="0" err="1">
                <a:solidFill>
                  <a:srgbClr val="17263C"/>
                </a:solidFill>
              </a:rPr>
              <a:t>числа</a:t>
            </a:r>
            <a:r>
              <a:rPr sz="1875" b="0" dirty="0">
                <a:solidFill>
                  <a:srgbClr val="17263C"/>
                </a:solidFill>
              </a:rPr>
              <a:t> </a:t>
            </a:r>
            <a:r>
              <a:rPr sz="1875" b="0" dirty="0" err="1">
                <a:solidFill>
                  <a:srgbClr val="17263C"/>
                </a:solidFill>
              </a:rPr>
              <a:t>тем</a:t>
            </a:r>
            <a:r>
              <a:rPr sz="1875" b="0" dirty="0">
                <a:solidFill>
                  <a:srgbClr val="17263C"/>
                </a:solidFill>
              </a:rPr>
              <a:t>.</a:t>
            </a:r>
          </a:p>
        </p:txBody>
      </p:sp>
      <p:sp>
        <p:nvSpPr>
          <p:cNvPr id="7" name="chart-heading">
            <a:extLst>
              <a:ext uri="{FF2B5EF4-FFF2-40B4-BE49-F238E27FC236}">
                <a16:creationId xmlns:a16="http://schemas.microsoft.com/office/drawing/2014/main" id="{76A259EE-F2DA-4AE9-8038-49DEFC0F269A}"/>
              </a:ext>
            </a:extLst>
          </p:cNvPr>
          <p:cNvSpPr>
            <a:spLocks noGrp="1"/>
          </p:cNvSpPr>
          <p:nvPr/>
        </p:nvSpPr>
        <p:spPr>
          <a:xfrm>
            <a:off x="7943850" y="2085975"/>
            <a:ext cx="9715500" cy="523875"/>
          </a:xfrm>
          <a:prstGeom prst="rect">
            <a:avLst/>
          </a:prstGeom>
          <a:noFill/>
          <a:ln w="0">
            <a:noFill/>
          </a:ln>
        </p:spPr>
        <p:txBody>
          <a:bodyPr/>
          <a:lstStyle>
            <a:defPPr>
              <a:defRPr sz="2475" b="1">
                <a:solidFill>
                  <a:srgbClr val="17263C"/>
                </a:solidFill>
              </a:defRPr>
            </a:defPPr>
            <a:lvl1pPr>
              <a:defRPr sz="2475" b="1">
                <a:solidFill>
                  <a:srgbClr val="17263C"/>
                </a:solidFill>
              </a:defRPr>
            </a:lvl1pPr>
            <a:lvl2pPr>
              <a:defRPr sz="2475" b="1">
                <a:solidFill>
                  <a:srgbClr val="17263C"/>
                </a:solidFill>
              </a:defRPr>
            </a:lvl2pPr>
            <a:lvl3pPr>
              <a:defRPr sz="2475" b="1">
                <a:solidFill>
                  <a:srgbClr val="17263C"/>
                </a:solidFill>
              </a:defRPr>
            </a:lvl3pPr>
            <a:lvl4pPr>
              <a:defRPr sz="2475" b="1">
                <a:solidFill>
                  <a:srgbClr val="17263C"/>
                </a:solidFill>
              </a:defRPr>
            </a:lvl4pPr>
            <a:lvl5pPr>
              <a:defRPr sz="2475" b="1">
                <a:solidFill>
                  <a:srgbClr val="17263C"/>
                </a:solidFill>
              </a:defRPr>
            </a:lvl5pPr>
            <a:lvl6pPr>
              <a:defRPr sz="2475" b="1">
                <a:solidFill>
                  <a:srgbClr val="17263C"/>
                </a:solidFill>
              </a:defRPr>
            </a:lvl6pPr>
            <a:lvl7pPr>
              <a:defRPr sz="2475" b="1">
                <a:solidFill>
                  <a:srgbClr val="17263C"/>
                </a:solidFill>
              </a:defRPr>
            </a:lvl7pPr>
            <a:lvl8pPr>
              <a:defRPr sz="2475" b="1">
                <a:solidFill>
                  <a:srgbClr val="17263C"/>
                </a:solidFill>
              </a:defRPr>
            </a:lvl8pPr>
            <a:lvl9pPr>
              <a:defRPr sz="2475" b="1">
                <a:solidFill>
                  <a:srgbClr val="17263C"/>
                </a:solidFill>
              </a:defRPr>
            </a:lvl9pPr>
          </a:lstStyle>
          <a:p>
            <a:pPr>
              <a:defRPr sz="2475" b="1">
                <a:solidFill>
                  <a:srgbClr val="17263C"/>
                </a:solidFill>
              </a:defRPr>
            </a:pPr>
            <a:r>
              <a:rPr sz="2475" b="1">
                <a:solidFill>
                  <a:srgbClr val="17263C"/>
                </a:solidFill>
              </a:rPr>
              <a:t>Насколько учитель улучшает восстановление слов?</a:t>
            </a:r>
          </a:p>
        </p:txBody>
      </p:sp>
      <p:sp>
        <p:nvSpPr>
          <p:cNvPr id="8" name="chart-subtitle">
            <a:extLst>
              <a:ext uri="{FF2B5EF4-FFF2-40B4-BE49-F238E27FC236}">
                <a16:creationId xmlns:a16="http://schemas.microsoft.com/office/drawing/2014/main" id="{1671EBC8-6936-4E0A-924A-DEA56EB65644}"/>
              </a:ext>
            </a:extLst>
          </p:cNvPr>
          <p:cNvSpPr>
            <a:spLocks noGrp="1"/>
          </p:cNvSpPr>
          <p:nvPr/>
        </p:nvSpPr>
        <p:spPr>
          <a:xfrm>
            <a:off x="7943850" y="2667000"/>
            <a:ext cx="9715500" cy="419100"/>
          </a:xfrm>
          <a:prstGeom prst="rect">
            <a:avLst/>
          </a:prstGeom>
          <a:noFill/>
          <a:ln w="0">
            <a:noFill/>
          </a:ln>
        </p:spPr>
        <p:txBody>
          <a:bodyPr/>
          <a:lstStyle>
            <a:defPPr>
              <a:defRPr sz="2025" b="0">
                <a:solidFill>
                  <a:srgbClr val="536477"/>
                </a:solidFill>
              </a:defRPr>
            </a:defPPr>
            <a:lvl1pPr>
              <a:defRPr sz="2025" b="0">
                <a:solidFill>
                  <a:srgbClr val="536477"/>
                </a:solidFill>
              </a:defRPr>
            </a:lvl1pPr>
            <a:lvl2pPr>
              <a:defRPr sz="2025" b="0">
                <a:solidFill>
                  <a:srgbClr val="536477"/>
                </a:solidFill>
              </a:defRPr>
            </a:lvl2pPr>
            <a:lvl3pPr>
              <a:defRPr sz="2025" b="0">
                <a:solidFill>
                  <a:srgbClr val="536477"/>
                </a:solidFill>
              </a:defRPr>
            </a:lvl3pPr>
            <a:lvl4pPr>
              <a:defRPr sz="2025" b="0">
                <a:solidFill>
                  <a:srgbClr val="536477"/>
                </a:solidFill>
              </a:defRPr>
            </a:lvl4pPr>
            <a:lvl5pPr>
              <a:defRPr sz="2025" b="0">
                <a:solidFill>
                  <a:srgbClr val="536477"/>
                </a:solidFill>
              </a:defRPr>
            </a:lvl5pPr>
            <a:lvl6pPr>
              <a:defRPr sz="2025" b="0">
                <a:solidFill>
                  <a:srgbClr val="536477"/>
                </a:solidFill>
              </a:defRPr>
            </a:lvl6pPr>
            <a:lvl7pPr>
              <a:defRPr sz="2025" b="0">
                <a:solidFill>
                  <a:srgbClr val="536477"/>
                </a:solidFill>
              </a:defRPr>
            </a:lvl7pPr>
            <a:lvl8pPr>
              <a:defRPr sz="2025" b="0">
                <a:solidFill>
                  <a:srgbClr val="536477"/>
                </a:solidFill>
              </a:defRPr>
            </a:lvl8pPr>
            <a:lvl9pPr>
              <a:defRPr sz="2025" b="0">
                <a:solidFill>
                  <a:srgbClr val="536477"/>
                </a:solidFill>
              </a:defRPr>
            </a:lvl9pPr>
          </a:lstStyle>
          <a:p>
            <a:pPr>
              <a:defRPr sz="2025" b="0">
                <a:solidFill>
                  <a:srgbClr val="536477"/>
                </a:solidFill>
              </a:defRPr>
            </a:pPr>
            <a:r>
              <a:rPr sz="2025" b="0">
                <a:solidFill>
                  <a:srgbClr val="536477"/>
                </a:solidFill>
              </a:rPr>
              <a:t>Снижение document-completion PPL относительно AARTM, %</a:t>
            </a:r>
          </a:p>
        </p:txBody>
      </p:sp>
      <p:graphicFrame>
        <p:nvGraphicFramePr>
          <p:cNvPr id="9" name="Chart">
            <a:extLst>
              <a:ext uri="{FF2B5EF4-FFF2-40B4-BE49-F238E27FC236}">
                <a16:creationId xmlns:a16="http://schemas.microsoft.com/office/drawing/2014/main" id="{88EB5669-2F08-4B82-BDE3-CDB92DD8A5EA}"/>
              </a:ext>
            </a:extLst>
          </p:cNvPr>
          <p:cNvGraphicFramePr/>
          <p:nvPr/>
        </p:nvGraphicFramePr>
        <p:xfrm>
          <a:off x="7867650" y="3267075"/>
          <a:ext cx="969645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10" name="result">
            <a:extLst>
              <a:ext uri="{FF2B5EF4-FFF2-40B4-BE49-F238E27FC236}">
                <a16:creationId xmlns:a16="http://schemas.microsoft.com/office/drawing/2014/main" id="{5156A3A8-999E-4C3C-83AB-FCE624B60491}"/>
              </a:ext>
            </a:extLst>
          </p:cNvPr>
          <p:cNvSpPr>
            <a:spLocks noGrp="1"/>
          </p:cNvSpPr>
          <p:nvPr/>
        </p:nvSpPr>
        <p:spPr>
          <a:xfrm>
            <a:off x="8096250" y="7419975"/>
            <a:ext cx="9525000" cy="581025"/>
          </a:xfrm>
          <a:prstGeom prst="rect">
            <a:avLst/>
          </a:prstGeom>
          <a:noFill/>
          <a:ln w="0">
            <a:noFill/>
          </a:ln>
        </p:spPr>
        <p:txBody>
          <a:bodyPr/>
          <a:lstStyle>
            <a:defPPr>
              <a:defRPr sz="2775" b="1">
                <a:solidFill>
                  <a:srgbClr val="147D92"/>
                </a:solidFill>
              </a:defRPr>
            </a:defPPr>
            <a:lvl1pPr>
              <a:defRPr sz="2775" b="1">
                <a:solidFill>
                  <a:srgbClr val="147D92"/>
                </a:solidFill>
              </a:defRPr>
            </a:lvl1pPr>
            <a:lvl2pPr>
              <a:defRPr sz="2775" b="1">
                <a:solidFill>
                  <a:srgbClr val="147D92"/>
                </a:solidFill>
              </a:defRPr>
            </a:lvl2pPr>
            <a:lvl3pPr>
              <a:defRPr sz="2775" b="1">
                <a:solidFill>
                  <a:srgbClr val="147D92"/>
                </a:solidFill>
              </a:defRPr>
            </a:lvl3pPr>
            <a:lvl4pPr>
              <a:defRPr sz="2775" b="1">
                <a:solidFill>
                  <a:srgbClr val="147D92"/>
                </a:solidFill>
              </a:defRPr>
            </a:lvl4pPr>
            <a:lvl5pPr>
              <a:defRPr sz="2775" b="1">
                <a:solidFill>
                  <a:srgbClr val="147D92"/>
                </a:solidFill>
              </a:defRPr>
            </a:lvl5pPr>
            <a:lvl6pPr>
              <a:defRPr sz="2775" b="1">
                <a:solidFill>
                  <a:srgbClr val="147D92"/>
                </a:solidFill>
              </a:defRPr>
            </a:lvl6pPr>
            <a:lvl7pPr>
              <a:defRPr sz="2775" b="1">
                <a:solidFill>
                  <a:srgbClr val="147D92"/>
                </a:solidFill>
              </a:defRPr>
            </a:lvl7pPr>
            <a:lvl8pPr>
              <a:defRPr sz="2775" b="1">
                <a:solidFill>
                  <a:srgbClr val="147D92"/>
                </a:solidFill>
              </a:defRPr>
            </a:lvl8pPr>
            <a:lvl9pPr>
              <a:defRPr sz="2775" b="1">
                <a:solidFill>
                  <a:srgbClr val="147D92"/>
                </a:solidFill>
              </a:defRPr>
            </a:lvl9pPr>
          </a:lstStyle>
          <a:p>
            <a:pPr>
              <a:defRPr sz="2775" b="1">
                <a:solidFill>
                  <a:srgbClr val="147D92"/>
                </a:solidFill>
              </a:defRPr>
            </a:pPr>
            <a:r>
              <a:rPr sz="2775" b="1">
                <a:solidFill>
                  <a:srgbClr val="147D92"/>
                </a:solidFill>
              </a:rPr>
              <a:t>−7,40% PPL в среднем · 42/45 выигранных пар</a:t>
            </a:r>
          </a:p>
        </p:txBody>
      </p:sp>
      <p:sp>
        <p:nvSpPr>
          <p:cNvPr id="11" name="protocol">
            <a:extLst>
              <a:ext uri="{FF2B5EF4-FFF2-40B4-BE49-F238E27FC236}">
                <a16:creationId xmlns:a16="http://schemas.microsoft.com/office/drawing/2014/main" id="{9CB10897-D7F9-4387-A490-E82F145920EF}"/>
              </a:ext>
            </a:extLst>
          </p:cNvPr>
          <p:cNvSpPr>
            <a:spLocks noGrp="1"/>
          </p:cNvSpPr>
          <p:nvPr/>
        </p:nvSpPr>
        <p:spPr>
          <a:xfrm>
            <a:off x="8096250" y="8143875"/>
            <a:ext cx="9525000" cy="838200"/>
          </a:xfrm>
          <a:prstGeom prst="rect">
            <a:avLst/>
          </a:prstGeom>
          <a:noFill/>
          <a:ln w="0">
            <a:noFill/>
          </a:ln>
        </p:spPr>
        <p:txBody>
          <a:bodyPr/>
          <a:lstStyle>
            <a:defPPr>
              <a:defRPr sz="1875" b="0">
                <a:solidFill>
                  <a:srgbClr val="17263C"/>
                </a:solidFill>
              </a:defRPr>
            </a:defPPr>
            <a:lvl1pPr>
              <a:defRPr sz="1875" b="0">
                <a:solidFill>
                  <a:srgbClr val="17263C"/>
                </a:solidFill>
              </a:defRPr>
            </a:lvl1pPr>
            <a:lvl2pPr>
              <a:defRPr sz="1875" b="0">
                <a:solidFill>
                  <a:srgbClr val="17263C"/>
                </a:solidFill>
              </a:defRPr>
            </a:lvl2pPr>
            <a:lvl3pPr>
              <a:defRPr sz="1875" b="0">
                <a:solidFill>
                  <a:srgbClr val="17263C"/>
                </a:solidFill>
              </a:defRPr>
            </a:lvl3pPr>
            <a:lvl4pPr>
              <a:defRPr sz="1875" b="0">
                <a:solidFill>
                  <a:srgbClr val="17263C"/>
                </a:solidFill>
              </a:defRPr>
            </a:lvl4pPr>
            <a:lvl5pPr>
              <a:defRPr sz="1875" b="0">
                <a:solidFill>
                  <a:srgbClr val="17263C"/>
                </a:solidFill>
              </a:defRPr>
            </a:lvl5pPr>
            <a:lvl6pPr>
              <a:defRPr sz="1875" b="0">
                <a:solidFill>
                  <a:srgbClr val="17263C"/>
                </a:solidFill>
              </a:defRPr>
            </a:lvl6pPr>
            <a:lvl7pPr>
              <a:defRPr sz="1875" b="0">
                <a:solidFill>
                  <a:srgbClr val="17263C"/>
                </a:solidFill>
              </a:defRPr>
            </a:lvl7pPr>
            <a:lvl8pPr>
              <a:defRPr sz="1875" b="0">
                <a:solidFill>
                  <a:srgbClr val="17263C"/>
                </a:solidFill>
              </a:defRPr>
            </a:lvl8pPr>
            <a:lvl9pPr>
              <a:defRPr sz="1875" b="0">
                <a:solidFill>
                  <a:srgbClr val="17263C"/>
                </a:solidFill>
              </a:defRPr>
            </a:lvl9pPr>
          </a:lstStyle>
          <a:p>
            <a:pPr>
              <a:defRPr sz="1875" b="0">
                <a:solidFill>
                  <a:srgbClr val="17263C"/>
                </a:solidFill>
              </a:defRPr>
            </a:pPr>
            <a:r>
              <a:rPr sz="1875" b="0">
                <a:solidFill>
                  <a:srgbClr val="17263C"/>
                </a:solidFill>
              </a:rPr>
              <a:t>5 корпусов: BBC, TechCrunch, PubMed, AG News, 20NG (4 категории)</a:t>
            </a:r>
          </a:p>
          <a:p>
            <a:pPr>
              <a:defRPr sz="1875" b="0">
                <a:solidFill>
                  <a:srgbClr val="17263C"/>
                </a:solidFill>
              </a:defRPr>
            </a:pPr>
            <a:r>
              <a:rPr sz="1875" b="0">
                <a:solidFill>
                  <a:srgbClr val="17263C"/>
                </a:solidFill>
              </a:rPr>
              <a:t>10 / 30 / 50 обучающих документов, 3 seed. Проценты усреднены по парам.</a:t>
            </a:r>
          </a:p>
        </p:txBody>
      </p:sp>
      <p:sp>
        <p:nvSpPr>
          <p:cNvPr id="12" name="method">
            <a:extLst>
              <a:ext uri="{FF2B5EF4-FFF2-40B4-BE49-F238E27FC236}">
                <a16:creationId xmlns:a16="http://schemas.microsoft.com/office/drawing/2014/main" id="{99DD3D31-3D18-401A-889C-AADE1AAED02D}"/>
              </a:ext>
            </a:extLst>
          </p:cNvPr>
          <p:cNvSpPr>
            <a:spLocks noGrp="1"/>
          </p:cNvSpPr>
          <p:nvPr/>
        </p:nvSpPr>
        <p:spPr>
          <a:xfrm>
            <a:off x="8096250" y="9144000"/>
            <a:ext cx="9525000" cy="828675"/>
          </a:xfrm>
          <a:prstGeom prst="rect">
            <a:avLst/>
          </a:prstGeom>
          <a:noFill/>
          <a:ln w="0">
            <a:noFill/>
          </a:ln>
        </p:spPr>
        <p:txBody>
          <a:bodyPr/>
          <a:lstStyle>
            <a:defPPr>
              <a:defRPr sz="1875" b="0">
                <a:solidFill>
                  <a:srgbClr val="536477"/>
                </a:solidFill>
              </a:defRPr>
            </a:defPPr>
            <a:lvl1pPr>
              <a:defRPr sz="1875" b="0">
                <a:solidFill>
                  <a:srgbClr val="536477"/>
                </a:solidFill>
              </a:defRPr>
            </a:lvl1pPr>
            <a:lvl2pPr>
              <a:defRPr sz="1875" b="0">
                <a:solidFill>
                  <a:srgbClr val="536477"/>
                </a:solidFill>
              </a:defRPr>
            </a:lvl2pPr>
            <a:lvl3pPr>
              <a:defRPr sz="1875" b="0">
                <a:solidFill>
                  <a:srgbClr val="536477"/>
                </a:solidFill>
              </a:defRPr>
            </a:lvl3pPr>
            <a:lvl4pPr>
              <a:defRPr sz="1875" b="0">
                <a:solidFill>
                  <a:srgbClr val="536477"/>
                </a:solidFill>
              </a:defRPr>
            </a:lvl4pPr>
            <a:lvl5pPr>
              <a:defRPr sz="1875" b="0">
                <a:solidFill>
                  <a:srgbClr val="536477"/>
                </a:solidFill>
              </a:defRPr>
            </a:lvl5pPr>
            <a:lvl6pPr>
              <a:defRPr sz="1875" b="0">
                <a:solidFill>
                  <a:srgbClr val="536477"/>
                </a:solidFill>
              </a:defRPr>
            </a:lvl6pPr>
            <a:lvl7pPr>
              <a:defRPr sz="1875" b="0">
                <a:solidFill>
                  <a:srgbClr val="536477"/>
                </a:solidFill>
              </a:defRPr>
            </a:lvl7pPr>
            <a:lvl8pPr>
              <a:defRPr sz="1875" b="0">
                <a:solidFill>
                  <a:srgbClr val="536477"/>
                </a:solidFill>
              </a:defRPr>
            </a:lvl8pPr>
            <a:lvl9pPr>
              <a:defRPr sz="1875" b="0">
                <a:solidFill>
                  <a:srgbClr val="536477"/>
                </a:solidFill>
              </a:defRPr>
            </a:lvl9pPr>
          </a:lstStyle>
          <a:p>
            <a:pPr>
              <a:defRPr sz="1875" b="0">
                <a:solidFill>
                  <a:srgbClr val="536477"/>
                </a:solidFill>
              </a:defRPr>
            </a:pPr>
            <a:r>
              <a:rPr sz="1875" b="0" dirty="0" err="1">
                <a:solidFill>
                  <a:srgbClr val="536477"/>
                </a:solidFill>
              </a:rPr>
              <a:t>Учитель</a:t>
            </a:r>
            <a:r>
              <a:rPr sz="1875" b="0" dirty="0">
                <a:solidFill>
                  <a:srgbClr val="536477"/>
                </a:solidFill>
              </a:rPr>
              <a:t> Q = q(</a:t>
            </a:r>
            <a:r>
              <a:rPr sz="1875" b="0" dirty="0" err="1">
                <a:solidFill>
                  <a:srgbClr val="536477"/>
                </a:solidFill>
              </a:rPr>
              <a:t>t|w</a:t>
            </a:r>
            <a:r>
              <a:rPr sz="1875" b="0" dirty="0">
                <a:solidFill>
                  <a:srgbClr val="536477"/>
                </a:solidFill>
              </a:rPr>
              <a:t>) </a:t>
            </a:r>
            <a:r>
              <a:rPr sz="1875" b="0" dirty="0" err="1">
                <a:solidFill>
                  <a:srgbClr val="536477"/>
                </a:solidFill>
              </a:rPr>
              <a:t>задаёт</a:t>
            </a:r>
            <a:r>
              <a:rPr sz="1875" b="0" dirty="0">
                <a:solidFill>
                  <a:srgbClr val="536477"/>
                </a:solidFill>
              </a:rPr>
              <a:t> </a:t>
            </a:r>
            <a:r>
              <a:rPr sz="1875" b="0" dirty="0" err="1">
                <a:solidFill>
                  <a:srgbClr val="536477"/>
                </a:solidFill>
              </a:rPr>
              <a:t>инициализацию</a:t>
            </a:r>
            <a:r>
              <a:rPr sz="1875" b="0" dirty="0">
                <a:solidFill>
                  <a:srgbClr val="536477"/>
                </a:solidFill>
              </a:rPr>
              <a:t> и </a:t>
            </a:r>
            <a:r>
              <a:rPr sz="1875" b="0" dirty="0" smtClean="0">
                <a:solidFill>
                  <a:srgbClr val="536477"/>
                </a:solidFill>
              </a:rPr>
              <a:t>KL-</a:t>
            </a:r>
            <a:r>
              <a:rPr sz="1875" b="0" dirty="0" err="1" smtClean="0">
                <a:solidFill>
                  <a:srgbClr val="536477"/>
                </a:solidFill>
              </a:rPr>
              <a:t>согласовани</a:t>
            </a:r>
            <a:r>
              <a:rPr lang="ru-RU" dirty="0" smtClean="0"/>
              <a:t>е</a:t>
            </a:r>
            <a:endParaRPr sz="1875" b="0" dirty="0">
              <a:solidFill>
                <a:srgbClr val="536477"/>
              </a:solidFill>
            </a:endParaRPr>
          </a:p>
        </p:txBody>
      </p:sp>
    </p:spTree>
    <p:extLst>
      <p:ext uri="{BB962C8B-B14F-4D97-AF65-F5344CB8AC3E}">
        <p14:creationId xmlns:p14="http://schemas.microsoft.com/office/powerpoint/2010/main" val="11745366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420</Words>
  <Application>Microsoft Office PowerPoint</Application>
  <DocSecurity>0</DocSecurity>
  <PresentationFormat>Произвольный</PresentationFormat>
  <Paragraphs>14</Paragraphs>
  <Slides>1</Slides>
  <Notes>1</Notes>
  <HiddenSlides>0</HiddenSlides>
  <MMClips>0</MMClips>
  <ScaleCrop>false</ScaleCrop>
  <HeadingPairs>
    <vt:vector size="6" baseType="variant">
      <vt:variant>
        <vt:lpstr>Использованные шрифты</vt:lpstr>
      </vt:variant>
      <vt:variant>
        <vt:i4>1</vt:i4>
      </vt:variant>
      <vt:variant>
        <vt:lpstr>Тема</vt:lpstr>
      </vt:variant>
      <vt:variant>
        <vt:i4>1</vt:i4>
      </vt:variant>
      <vt:variant>
        <vt:lpstr>Заголовки слайдов</vt:lpstr>
      </vt:variant>
      <vt:variant>
        <vt:i4>1</vt:i4>
      </vt:variant>
    </vt:vector>
  </HeadingPairs>
  <TitlesOfParts>
    <vt:vector size="3" baseType="lpstr">
      <vt:lpstr>Aptos</vt:lpstr>
      <vt:lpstr>ChatGPT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JINR</cp:lastModifiedBy>
  <cp:revision>1</cp:revision>
  <dcterms:created xsi:type="dcterms:W3CDTF">2026-10-23T09:23:48Z</dcterms:created>
  <dcterms:modified xsi:type="dcterms:W3CDTF">2026-10-23T09:26:07Z</dcterms:modified>
</cp:coreProperties>
</file>